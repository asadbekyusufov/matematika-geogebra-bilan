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934E63C-70B5-4E97-8F14-B47F7E937880}" type="datetimeFigureOut">
              <a:rPr lang="en-US" smtClean="0"/>
              <a:pPr/>
              <a:t>3/1/2026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136DEEF-963C-4E3E-8DFD-B97083F22C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 spd="slow">
    <p:push dir="u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2996952"/>
            <a:ext cx="8208912" cy="2641848"/>
          </a:xfrm>
        </p:spPr>
        <p:txBody>
          <a:bodyPr>
            <a:normAutofit fontScale="92500"/>
          </a:bodyPr>
          <a:lstStyle/>
          <a:p>
            <a:pPr algn="l"/>
            <a:r>
              <a:rPr lang="en-US" sz="6600" b="1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sz="6600" b="1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sz="66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Muhokama</a:t>
            </a:r>
            <a:r>
              <a:rPr lang="en-US" sz="66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66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qiling</a:t>
            </a:r>
            <a:r>
              <a:rPr lang="en-US" sz="6600" b="1" dirty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sz="6600" b="1" dirty="0" err="1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Eslang</a:t>
            </a:r>
            <a:endParaRPr lang="en-US" sz="6600" b="1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2016223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Fan: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Matematika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/>
            </a:r>
            <a:b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</a:b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Sing: 5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412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548680"/>
            <a:ext cx="4059936" cy="5832648"/>
          </a:xfrm>
        </p:spPr>
        <p:txBody>
          <a:bodyPr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Bolalar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dam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olishda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,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varraklar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uchirib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,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chodir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qurishmoqda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Ular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varraklarining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yuzini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va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chodirning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balandligini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muhokama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 </a:t>
            </a:r>
            <a:r>
              <a:rPr lang="en-US" sz="3600" b="1" i="1" dirty="0" err="1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qilishmoqda</a:t>
            </a:r>
            <a:r>
              <a:rPr lang="en-US" sz="3600" b="1" i="1" dirty="0" smtClean="0">
                <a:solidFill>
                  <a:schemeClr val="bg1"/>
                </a:solidFill>
                <a:latin typeface="Times New Roman" pitchFamily="18" charset="0"/>
                <a:ea typeface="Montserrat" pitchFamily="34" charset="-122"/>
                <a:cs typeface="Times New Roman" pitchFamily="18" charset="0"/>
              </a:rPr>
              <a:t>.</a:t>
            </a:r>
            <a:endParaRPr lang="en-US" sz="3600" b="1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548680"/>
            <a:ext cx="3549994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246895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Muhokama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qiling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84784"/>
            <a:ext cx="1571625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752" y="1916832"/>
            <a:ext cx="1728192" cy="3253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8064" y="1628800"/>
            <a:ext cx="3355573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175630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2556520"/>
          </a:xfrm>
        </p:spPr>
        <p:txBody>
          <a:bodyPr>
            <a:no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dirty="0" err="1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Varraklar</a:t>
            </a:r>
            <a:r>
              <a:rPr lang="en-US" sz="4800" dirty="0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4800" dirty="0" err="1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yuzasi</a:t>
            </a:r>
            <a:r>
              <a:rPr lang="en-US" sz="4800" dirty="0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4800" dirty="0" err="1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haqida</a:t>
            </a:r>
            <a:r>
              <a:rPr lang="en-US" sz="4800" dirty="0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4800" dirty="0" err="1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savollar</a:t>
            </a:r>
            <a:r>
              <a:rPr lang="en-US" sz="4800" dirty="0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4800" dirty="0" err="1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tug'ilmoqda</a:t>
            </a:r>
            <a:r>
              <a:rPr lang="en-US" sz="4800" dirty="0" smtClean="0">
                <a:solidFill>
                  <a:schemeClr val="bg1"/>
                </a:solidFill>
                <a:latin typeface="Arial Black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4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3140968"/>
            <a:ext cx="4059936" cy="2955032"/>
          </a:xfrm>
        </p:spPr>
        <p:txBody>
          <a:bodyPr/>
          <a:lstStyle/>
          <a:p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Bolalar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o'yin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orqali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geometrik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tushunchalarni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o'rganishmoqda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 smtClean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3212976"/>
            <a:ext cx="4059936" cy="2883024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Ochiq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havoda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o'tkazilgan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vaqt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bilim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olishga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yordam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beradi</a:t>
            </a:r>
            <a:r>
              <a:rPr lang="en-US" sz="3600" dirty="0" smtClean="0">
                <a:solidFill>
                  <a:srgbClr val="002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 smtClean="0">
              <a:solidFill>
                <a:srgbClr val="00206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0739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866" indent="-342866" algn="ctr"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000" b="1" dirty="0" err="1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To'g'ri</a:t>
            </a:r>
            <a:r>
              <a:rPr lang="en-US" sz="4000" b="1" dirty="0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 </a:t>
            </a:r>
            <a:r>
              <a:rPr lang="en-US" sz="4000" b="1" dirty="0" err="1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to'rtburchak</a:t>
            </a:r>
            <a:endParaRPr lang="en-US" sz="4000" b="1" dirty="0" smtClean="0">
              <a:solidFill>
                <a:schemeClr val="bg1"/>
              </a:solidFill>
              <a:latin typeface="Arial Black" pitchFamily="34" charset="0"/>
              <a:ea typeface="Bricolage Grotesque Extra Bold" pitchFamily="34" charset="-122"/>
              <a:cs typeface="Bricolage Grotesque Extra Bold" pitchFamily="34" charset="-12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Geometrik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shakllarning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asosiy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xususiyatlarini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eslaymiz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 smtClean="0">
              <a:solidFill>
                <a:schemeClr val="bg1"/>
              </a:solidFill>
              <a:latin typeface="Montserrat" pitchFamily="34" charset="0"/>
              <a:ea typeface="Montserrat" pitchFamily="34" charset="-122"/>
            </a:endParaRPr>
          </a:p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 smtClean="0">
              <a:solidFill>
                <a:schemeClr val="bg1"/>
              </a:solidFill>
              <a:latin typeface="Montserrat" pitchFamily="34" charset="0"/>
              <a:ea typeface="Montserrat" pitchFamily="34" charset="-122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866" indent="-342866"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24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ABCD – </a:t>
            </a:r>
            <a:r>
              <a:rPr lang="en-US" sz="24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to'g'ri</a:t>
            </a:r>
            <a:r>
              <a:rPr lang="en-US" sz="24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to'rtburchak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342866" indent="-342866"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BC –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bo'yi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342866" indent="-342866"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DC –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eni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342866" indent="-342866"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/>
            </a:pP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BC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tomonlar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o'zaro</a:t>
            </a:r>
            <a:r>
              <a:rPr lang="en-US" sz="2800" dirty="0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perpendikulyar</a:t>
            </a:r>
            <a:endParaRPr lang="en-US" sz="2800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8505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12192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To'g'ri</a:t>
            </a:r>
            <a:r>
              <a:rPr lang="en-US" sz="4400" b="1" dirty="0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 </a:t>
            </a:r>
            <a:r>
              <a:rPr lang="en-US" sz="4400" b="1" dirty="0" err="1" smtClean="0">
                <a:solidFill>
                  <a:schemeClr val="bg1"/>
                </a:solidFill>
                <a:latin typeface="Arial Black" pitchFamily="34" charset="0"/>
                <a:ea typeface="Bricolage Grotesque Extra Bold" pitchFamily="34" charset="-122"/>
                <a:cs typeface="Bricolage Grotesque Extra Bold" pitchFamily="34" charset="-120"/>
              </a:rPr>
              <a:t>to'rtburchak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3600" dirty="0" err="1" smtClean="0">
                <a:solidFill>
                  <a:srgbClr val="002060"/>
                </a:solidFill>
              </a:rPr>
              <a:t>Ikkita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</a:rPr>
              <a:t>to‘g‘ri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</a:rPr>
              <a:t>chiziq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</a:rPr>
              <a:t>to‘g‘ri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</a:rPr>
              <a:t>burchak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</a:rPr>
              <a:t>ostida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</a:rPr>
              <a:t>kesishsa</a:t>
            </a:r>
            <a:r>
              <a:rPr lang="en-US" sz="3600" dirty="0" smtClean="0">
                <a:solidFill>
                  <a:srgbClr val="002060"/>
                </a:solidFill>
              </a:rPr>
              <a:t>, </a:t>
            </a:r>
            <a:r>
              <a:rPr lang="en-US" sz="3600" dirty="0" err="1" smtClean="0">
                <a:solidFill>
                  <a:srgbClr val="002060"/>
                </a:solidFill>
              </a:rPr>
              <a:t>ular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</a:rPr>
              <a:t>o‘zaro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</a:rPr>
              <a:t>perpendikulyar</a:t>
            </a:r>
            <a:r>
              <a:rPr lang="en-US" sz="3600" dirty="0" smtClean="0">
                <a:solidFill>
                  <a:srgbClr val="002060"/>
                </a:solidFill>
              </a:rPr>
              <a:t> </a:t>
            </a:r>
            <a:r>
              <a:rPr lang="en-US" sz="3600" dirty="0" err="1" smtClean="0">
                <a:solidFill>
                  <a:srgbClr val="002060"/>
                </a:solidFill>
              </a:rPr>
              <a:t>bo‘ladi</a:t>
            </a:r>
            <a:r>
              <a:rPr lang="en-US" sz="3600" dirty="0" smtClean="0">
                <a:solidFill>
                  <a:srgbClr val="002060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2060"/>
                </a:solidFill>
              </a:rPr>
              <a:t>AB </a:t>
            </a:r>
            <a:r>
              <a:rPr lang="en-US" sz="2800" dirty="0" err="1" smtClean="0">
                <a:solidFill>
                  <a:srgbClr val="002060"/>
                </a:solidFill>
              </a:rPr>
              <a:t>va</a:t>
            </a:r>
            <a:r>
              <a:rPr lang="en-US" sz="2800" dirty="0" smtClean="0">
                <a:solidFill>
                  <a:srgbClr val="002060"/>
                </a:solidFill>
              </a:rPr>
              <a:t> BC </a:t>
            </a:r>
            <a:r>
              <a:rPr lang="en-US" sz="2800" dirty="0" err="1" smtClean="0">
                <a:solidFill>
                  <a:srgbClr val="002060"/>
                </a:solidFill>
              </a:rPr>
              <a:t>tomonlar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</a:rPr>
              <a:t>o‘zaro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</a:rPr>
              <a:t>perpendikulyar</a:t>
            </a:r>
            <a:endParaRPr lang="en-US" sz="2800" dirty="0" smtClean="0">
              <a:solidFill>
                <a:srgbClr val="002060"/>
              </a:solidFill>
            </a:endParaRPr>
          </a:p>
          <a:p>
            <a:pPr algn="ctr">
              <a:buNone/>
            </a:pPr>
            <a:r>
              <a:rPr lang="en-US" sz="2800" dirty="0" smtClean="0">
                <a:solidFill>
                  <a:srgbClr val="002060"/>
                </a:solidFill>
              </a:rPr>
              <a:t> AB ⊥ BC </a:t>
            </a:r>
          </a:p>
          <a:p>
            <a:endParaRPr lang="en-US" sz="2800" dirty="0" smtClean="0">
              <a:solidFill>
                <a:srgbClr val="002060"/>
              </a:solidFill>
            </a:endParaRPr>
          </a:p>
          <a:p>
            <a:r>
              <a:rPr lang="en-US" sz="2800" dirty="0" smtClean="0">
                <a:solidFill>
                  <a:srgbClr val="002060"/>
                </a:solidFill>
              </a:rPr>
              <a:t>Yana </a:t>
            </a:r>
            <a:r>
              <a:rPr lang="en-US" sz="2800" dirty="0" err="1" smtClean="0">
                <a:solidFill>
                  <a:srgbClr val="002060"/>
                </a:solidFill>
              </a:rPr>
              <a:t>boshqa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</a:rPr>
              <a:t>o‘zaro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</a:rPr>
              <a:t>perpendikulyar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</a:rPr>
              <a:t>kesmalarni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</a:rPr>
              <a:t>ayta</a:t>
            </a: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err="1" smtClean="0">
                <a:solidFill>
                  <a:srgbClr val="002060"/>
                </a:solidFill>
              </a:rPr>
              <a:t>olasizmi</a:t>
            </a:r>
            <a:r>
              <a:rPr lang="en-US" sz="2800" dirty="0" smtClean="0">
                <a:solidFill>
                  <a:srgbClr val="002060"/>
                </a:solidFill>
              </a:rPr>
              <a:t>?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9519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To‘g‘ri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to‘rtburchakning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yuzi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br>
              <a:rPr lang="en-US" dirty="0" smtClean="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=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bo‘yi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×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eni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916832"/>
            <a:ext cx="7330935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8812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kvadrat</a:t>
            </a:r>
            <a:endParaRPr lang="en-US" sz="6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ABCD – </a:t>
            </a:r>
            <a:r>
              <a:rPr lang="en-US" dirty="0" err="1" smtClean="0">
                <a:solidFill>
                  <a:srgbClr val="002060"/>
                </a:solidFill>
              </a:rPr>
              <a:t>kvadrat</a:t>
            </a:r>
            <a:r>
              <a:rPr lang="en-US" dirty="0" smtClean="0">
                <a:solidFill>
                  <a:srgbClr val="002060"/>
                </a:solidFill>
              </a:rPr>
              <a:t>. 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AB, BC, CD </a:t>
            </a:r>
            <a:r>
              <a:rPr lang="en-US" dirty="0" err="1" smtClean="0">
                <a:solidFill>
                  <a:srgbClr val="002060"/>
                </a:solidFill>
              </a:rPr>
              <a:t>va</a:t>
            </a:r>
            <a:r>
              <a:rPr lang="en-US" dirty="0" smtClean="0">
                <a:solidFill>
                  <a:srgbClr val="002060"/>
                </a:solidFill>
              </a:rPr>
              <a:t> AD — </a:t>
            </a:r>
            <a:r>
              <a:rPr lang="en-US" dirty="0" err="1" smtClean="0">
                <a:solidFill>
                  <a:srgbClr val="002060"/>
                </a:solidFill>
              </a:rPr>
              <a:t>kvadratning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tomonlari</a:t>
            </a:r>
            <a:r>
              <a:rPr lang="en-US" dirty="0" smtClean="0">
                <a:solidFill>
                  <a:srgbClr val="002060"/>
                </a:solidFill>
              </a:rPr>
              <a:t>. AB </a:t>
            </a:r>
            <a:r>
              <a:rPr lang="en-US" dirty="0" err="1" smtClean="0">
                <a:solidFill>
                  <a:srgbClr val="002060"/>
                </a:solidFill>
              </a:rPr>
              <a:t>va</a:t>
            </a:r>
            <a:r>
              <a:rPr lang="en-US" dirty="0" smtClean="0">
                <a:solidFill>
                  <a:srgbClr val="002060"/>
                </a:solidFill>
              </a:rPr>
              <a:t> BC </a:t>
            </a:r>
            <a:r>
              <a:rPr lang="en-US" dirty="0" err="1" smtClean="0">
                <a:solidFill>
                  <a:srgbClr val="002060"/>
                </a:solidFill>
              </a:rPr>
              <a:t>tomonlar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o‘zaro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perpendikulyar</a:t>
            </a:r>
            <a:endParaRPr lang="en-US" dirty="0" smtClean="0">
              <a:solidFill>
                <a:srgbClr val="002060"/>
              </a:solidFill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002060"/>
                </a:solidFill>
              </a:rPr>
              <a:t>AB ⊥ BC</a:t>
            </a:r>
          </a:p>
          <a:p>
            <a:pPr algn="ctr">
              <a:buNone/>
            </a:pPr>
            <a:endParaRPr lang="en-US" dirty="0" smtClean="0">
              <a:solidFill>
                <a:srgbClr val="002060"/>
              </a:solidFill>
            </a:endParaRPr>
          </a:p>
          <a:p>
            <a:r>
              <a:rPr lang="en-US" dirty="0" smtClean="0">
                <a:solidFill>
                  <a:srgbClr val="002060"/>
                </a:solidFill>
              </a:rPr>
              <a:t>Yana </a:t>
            </a:r>
            <a:r>
              <a:rPr lang="en-US" dirty="0" err="1" smtClean="0">
                <a:solidFill>
                  <a:srgbClr val="002060"/>
                </a:solidFill>
              </a:rPr>
              <a:t>boshqa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o‘zaro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perpendikulyar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kesmalarni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ayta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olasizmi</a:t>
            </a:r>
            <a:r>
              <a:rPr lang="en-US" dirty="0" smtClean="0">
                <a:solidFill>
                  <a:srgbClr val="002060"/>
                </a:solidFill>
              </a:rPr>
              <a:t>?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 dirty="0" smtClean="0">
              <a:solidFill>
                <a:srgbClr val="002060"/>
              </a:solidFill>
            </a:endParaRPr>
          </a:p>
          <a:p>
            <a:endParaRPr lang="en-US" dirty="0" smtClean="0">
              <a:solidFill>
                <a:srgbClr val="002060"/>
              </a:solidFill>
            </a:endParaRPr>
          </a:p>
          <a:p>
            <a:endParaRPr lang="en-US" dirty="0" smtClean="0">
              <a:solidFill>
                <a:srgbClr val="002060"/>
              </a:solidFill>
            </a:endParaRPr>
          </a:p>
          <a:p>
            <a:r>
              <a:rPr lang="en-US" dirty="0" err="1" smtClean="0">
                <a:solidFill>
                  <a:srgbClr val="002060"/>
                </a:solidFill>
              </a:rPr>
              <a:t>Shu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sahifadagi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to‘g‘ri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to‘rtburchak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yoki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kvadratda</a:t>
            </a:r>
            <a:r>
              <a:rPr lang="en-US" dirty="0" smtClean="0">
                <a:solidFill>
                  <a:srgbClr val="002060"/>
                </a:solidFill>
              </a:rPr>
              <a:t> AC </a:t>
            </a:r>
            <a:r>
              <a:rPr lang="en-US" dirty="0" err="1" smtClean="0">
                <a:solidFill>
                  <a:srgbClr val="002060"/>
                </a:solidFill>
              </a:rPr>
              <a:t>kesma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o‘tkazsangiz</a:t>
            </a:r>
            <a:r>
              <a:rPr lang="en-US" dirty="0" smtClean="0">
                <a:solidFill>
                  <a:srgbClr val="002060"/>
                </a:solidFill>
              </a:rPr>
              <a:t>, </a:t>
            </a:r>
            <a:r>
              <a:rPr lang="en-US" dirty="0" err="1" smtClean="0">
                <a:solidFill>
                  <a:srgbClr val="002060"/>
                </a:solidFill>
              </a:rPr>
              <a:t>qanday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shakllar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hosil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bo‘ladi</a:t>
            </a:r>
            <a:r>
              <a:rPr lang="en-US" dirty="0" smtClean="0">
                <a:solidFill>
                  <a:srgbClr val="002060"/>
                </a:solidFill>
              </a:rPr>
              <a:t>?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235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Kvadratning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yuzi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=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tomoni</a:t>
            </a:r>
            <a:r>
              <a:rPr lang="en-US" dirty="0" smtClean="0">
                <a:solidFill>
                  <a:schemeClr val="bg1"/>
                </a:solidFill>
                <a:latin typeface="Arial Black" pitchFamily="34" charset="0"/>
              </a:rPr>
              <a:t> × </a:t>
            </a:r>
            <a:r>
              <a:rPr lang="en-US" dirty="0" err="1" smtClean="0">
                <a:solidFill>
                  <a:schemeClr val="bg1"/>
                </a:solidFill>
                <a:latin typeface="Arial Black" pitchFamily="34" charset="0"/>
              </a:rPr>
              <a:t>tomoni</a:t>
            </a:r>
            <a:endParaRPr lang="en-US" dirty="0">
              <a:solidFill>
                <a:schemeClr val="bg1"/>
              </a:solidFill>
              <a:latin typeface="Arial Black" pitchFamily="34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916831"/>
            <a:ext cx="4176464" cy="4201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3603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Mashq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daftari</a:t>
            </a:r>
            <a:r>
              <a:rPr lang="en-US" sz="8000" dirty="0" smtClean="0">
                <a:solidFill>
                  <a:srgbClr val="00B050"/>
                </a:solidFill>
                <a:latin typeface="Arial Black" pitchFamily="34" charset="0"/>
                <a:cs typeface="Aharoni" pitchFamily="2" charset="-79"/>
              </a:rPr>
              <a:t> 115-116-betlar</a:t>
            </a:r>
            <a:endParaRPr lang="en-US" sz="8000" dirty="0">
              <a:solidFill>
                <a:srgbClr val="00B05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Uyga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Algerian" pitchFamily="82" charset="0"/>
              </a:rPr>
              <a:t>vazifa</a:t>
            </a:r>
            <a:r>
              <a:rPr lang="en-US" b="1" dirty="0" smtClean="0">
                <a:solidFill>
                  <a:srgbClr val="7030A0"/>
                </a:solidFill>
                <a:latin typeface="Algerian" pitchFamily="82" charset="0"/>
              </a:rPr>
              <a:t>:</a:t>
            </a:r>
            <a:endParaRPr lang="en-US" b="1" dirty="0">
              <a:solidFill>
                <a:srgbClr val="7030A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035546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178</Words>
  <Application>Microsoft Office PowerPoint</Application>
  <PresentationFormat>Экран (4:3)</PresentationFormat>
  <Paragraphs>34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Бумажная</vt:lpstr>
      <vt:lpstr>Fan: Matematika Sing: 5</vt:lpstr>
      <vt:lpstr>Презентация PowerPoint</vt:lpstr>
      <vt:lpstr>Muhokama qiling</vt:lpstr>
      <vt:lpstr>Varraklar yuzasi haqida savollar tug'ilmoqda.</vt:lpstr>
      <vt:lpstr>To'g'ri to'rtburchak</vt:lpstr>
      <vt:lpstr>To'g'ri to'rtburchak</vt:lpstr>
      <vt:lpstr>To‘g‘ri to‘rtburchakning yuzi  = bo‘yi × eni</vt:lpstr>
      <vt:lpstr>kvadrat</vt:lpstr>
      <vt:lpstr>Kvadratning yuzi = tomoni × tomoni</vt:lpstr>
      <vt:lpstr>Uyga vazifa: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 Windows</cp:lastModifiedBy>
  <cp:revision>13</cp:revision>
  <dcterms:created xsi:type="dcterms:W3CDTF">2026-02-07T05:27:24Z</dcterms:created>
  <dcterms:modified xsi:type="dcterms:W3CDTF">2026-03-01T09:34:06Z</dcterms:modified>
</cp:coreProperties>
</file>