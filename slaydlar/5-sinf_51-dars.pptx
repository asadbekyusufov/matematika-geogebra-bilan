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 spd="slow">
    <p:push dir="u"/>
  </p:transition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11560" y="2996952"/>
            <a:ext cx="8208912" cy="3024336"/>
          </a:xfrm>
        </p:spPr>
        <p:txBody>
          <a:bodyPr>
            <a:noAutofit/>
          </a:bodyPr>
          <a:lstStyle/>
          <a:p>
            <a:pPr algn="l"/>
            <a:r>
              <a:rPr lang="en-US" sz="4000" b="1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Mavzu</a:t>
            </a:r>
            <a:r>
              <a:rPr lang="en-US" sz="40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: </a:t>
            </a:r>
            <a:r>
              <a:rPr lang="en-US" sz="40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To‘g‘ri</a:t>
            </a:r>
            <a:r>
              <a:rPr lang="en-US" sz="40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to‘rtburchak</a:t>
            </a:r>
            <a:r>
              <a:rPr lang="en-US" sz="40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va</a:t>
            </a:r>
            <a:r>
              <a:rPr lang="en-US" sz="40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uchburchaklardan</a:t>
            </a:r>
            <a:r>
              <a:rPr lang="en-US" sz="40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tuzilgan</a:t>
            </a:r>
            <a:r>
              <a:rPr lang="en-US" sz="40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murakkab</a:t>
            </a:r>
            <a:r>
              <a:rPr lang="en-US" sz="40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shakllarning</a:t>
            </a:r>
            <a:r>
              <a:rPr lang="en-US" sz="40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yuzi</a:t>
            </a:r>
            <a:endParaRPr lang="en-US" sz="4000" b="1" dirty="0">
              <a:solidFill>
                <a:srgbClr val="00B050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692697"/>
            <a:ext cx="7772400" cy="2016223"/>
          </a:xfrm>
        </p:spPr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Fan: </a:t>
            </a:r>
            <a:r>
              <a:rPr lang="en-US" b="1" dirty="0" err="1" smtClean="0">
                <a:solidFill>
                  <a:srgbClr val="7030A0"/>
                </a:solidFill>
                <a:latin typeface="Algerian" pitchFamily="82" charset="0"/>
              </a:rPr>
              <a:t>Matematika</a:t>
            </a: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/>
            </a:r>
            <a:b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</a:b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Sing: 5</a:t>
            </a:r>
            <a:endParaRPr lang="en-US" b="1" dirty="0">
              <a:solidFill>
                <a:srgbClr val="7030A0"/>
              </a:solidFill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4123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PQRS – </a:t>
            </a:r>
            <a:r>
              <a:rPr lang="en-US" sz="2800" dirty="0" err="1">
                <a:solidFill>
                  <a:schemeClr val="bg1"/>
                </a:solidFill>
                <a:latin typeface="Arial Black" pitchFamily="34" charset="0"/>
              </a:rPr>
              <a:t>to‘g‘ri</a:t>
            </a: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 Black" pitchFamily="34" charset="0"/>
              </a:rPr>
              <a:t>to‘rtburchak</a:t>
            </a: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, PTUS </a:t>
            </a:r>
            <a:r>
              <a:rPr lang="en-US" sz="2800" dirty="0" err="1">
                <a:solidFill>
                  <a:schemeClr val="bg1"/>
                </a:solidFill>
                <a:latin typeface="Arial Black" pitchFamily="34" charset="0"/>
              </a:rPr>
              <a:t>esa</a:t>
            </a: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 Black" pitchFamily="34" charset="0"/>
              </a:rPr>
              <a:t>kvadrat</a:t>
            </a: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. </a:t>
            </a:r>
            <a:r>
              <a:rPr lang="en-US" sz="2800" dirty="0" err="1">
                <a:solidFill>
                  <a:schemeClr val="bg1"/>
                </a:solidFill>
                <a:latin typeface="Arial Black" pitchFamily="34" charset="0"/>
              </a:rPr>
              <a:t>Bo‘yalgan</a:t>
            </a: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 Black" pitchFamily="34" charset="0"/>
              </a:rPr>
              <a:t>shaklning</a:t>
            </a: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 Black" pitchFamily="34" charset="0"/>
              </a:rPr>
              <a:t>yuzini</a:t>
            </a: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 toping. 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3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i="1" dirty="0" smtClean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1-usul</a:t>
                </a:r>
              </a:p>
              <a:p>
                <a:r>
                  <a:rPr lang="en-US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A </a:t>
                </a:r>
                <a:r>
                  <a:rPr lang="en-US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kvadratning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yuzi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= 6 × 6 = 36 (cm</a:t>
                </a:r>
                <a:r>
                  <a:rPr lang="en-US" i="1" baseline="30000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) </a:t>
                </a:r>
              </a:p>
              <a:p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RU = 10 – 6 = 4 (cm) </a:t>
                </a:r>
              </a:p>
              <a:p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B </a:t>
                </a:r>
                <a:r>
                  <a:rPr lang="en-US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uchburchakning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yuzi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× 4 × 6 = 12 (cm</a:t>
                </a:r>
                <a:r>
                  <a:rPr lang="en-US" i="1" baseline="30000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) </a:t>
                </a:r>
              </a:p>
              <a:p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PTRS </a:t>
                </a:r>
                <a:r>
                  <a:rPr lang="en-US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shaklning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yuzi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= 36 + 12 = 48 (</a:t>
                </a:r>
                <a:r>
                  <a:rPr lang="en-US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cm</a:t>
                </a:r>
                <a:r>
                  <a:rPr lang="en-US" i="1" baseline="30000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Объект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2"/>
                <a:stretch>
                  <a:fillRect l="-1502" t="-1200" r="-45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3985771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468959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PQRS – </a:t>
            </a:r>
            <a:r>
              <a:rPr lang="en-US" sz="2800" dirty="0" err="1">
                <a:solidFill>
                  <a:schemeClr val="bg1"/>
                </a:solidFill>
                <a:latin typeface="Arial Black" pitchFamily="34" charset="0"/>
              </a:rPr>
              <a:t>to‘g‘ri</a:t>
            </a: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 Black" pitchFamily="34" charset="0"/>
              </a:rPr>
              <a:t>to‘rtburchak</a:t>
            </a: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, PTUS </a:t>
            </a:r>
            <a:r>
              <a:rPr lang="en-US" sz="2800" dirty="0" err="1">
                <a:solidFill>
                  <a:schemeClr val="bg1"/>
                </a:solidFill>
                <a:latin typeface="Arial Black" pitchFamily="34" charset="0"/>
              </a:rPr>
              <a:t>esa</a:t>
            </a: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 Black" pitchFamily="34" charset="0"/>
              </a:rPr>
              <a:t>kvadrat</a:t>
            </a: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. </a:t>
            </a:r>
            <a:r>
              <a:rPr lang="en-US" sz="2800" dirty="0" err="1">
                <a:solidFill>
                  <a:schemeClr val="bg1"/>
                </a:solidFill>
                <a:latin typeface="Arial Black" pitchFamily="34" charset="0"/>
              </a:rPr>
              <a:t>Bo‘yalgan</a:t>
            </a: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 Black" pitchFamily="34" charset="0"/>
              </a:rPr>
              <a:t>shaklning</a:t>
            </a: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 Black" pitchFamily="34" charset="0"/>
              </a:rPr>
              <a:t>yuzini</a:t>
            </a: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 toping. 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1-usul:</a:t>
            </a:r>
          </a:p>
          <a:p>
            <a:pPr>
              <a:buNone/>
            </a:pP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kvadratning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= 6 × 6 = 36 (cm</a:t>
            </a:r>
            <a:r>
              <a:rPr lang="en-US" i="1" baseline="30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) </a:t>
            </a:r>
            <a:endParaRPr lang="ru-RU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RU = 10 – 6 = 4 (cm) </a:t>
            </a:r>
            <a:endParaRPr lang="ru-RU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uchburchakning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=  × 4 × 6 = 12 (cm</a:t>
            </a:r>
            <a:r>
              <a:rPr lang="en-US" i="1" baseline="30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) </a:t>
            </a:r>
            <a:endParaRPr lang="ru-RU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PTRS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shaklning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= 36 + 12 = 48 (cm</a:t>
            </a:r>
            <a:r>
              <a:rPr lang="en-US" i="1" baseline="30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)</a:t>
            </a:r>
            <a:endParaRPr lang="ru-RU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2-usul:</a:t>
            </a:r>
          </a:p>
          <a:p>
            <a:pPr>
              <a:buNone/>
            </a:pP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PQRS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to‘g‘ri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to‘rtburchakning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= 10 × 6 = 60 (cm</a:t>
            </a:r>
            <a:r>
              <a:rPr lang="en-US" i="1" baseline="30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endParaRPr lang="ru-RU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TQ = 10 – 6 = 4 (cm) </a:t>
            </a:r>
            <a:endParaRPr lang="ru-RU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TQR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uchburchakning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=  × 4 × 6 = 12 (cm</a:t>
            </a:r>
            <a:r>
              <a:rPr lang="en-US" i="1" baseline="30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)</a:t>
            </a:r>
            <a:endParaRPr lang="ru-RU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PTRS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shaklning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= 60 – 12 = 48 (cm</a:t>
            </a:r>
            <a:r>
              <a:rPr lang="en-US" i="1" baseline="30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)</a:t>
            </a:r>
            <a:endParaRPr lang="ru-RU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56302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Arial Black" pitchFamily="34" charset="0"/>
              </a:rPr>
              <a:t>ABCD </a:t>
            </a:r>
            <a:r>
              <a:rPr lang="en-US" sz="3600" dirty="0" err="1" smtClean="0">
                <a:solidFill>
                  <a:schemeClr val="bg1"/>
                </a:solidFill>
                <a:latin typeface="Arial Black" pitchFamily="34" charset="0"/>
              </a:rPr>
              <a:t>to‘g‘ri</a:t>
            </a:r>
            <a:r>
              <a:rPr lang="en-US" sz="36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600" dirty="0" err="1" smtClean="0">
                <a:solidFill>
                  <a:schemeClr val="bg1"/>
                </a:solidFill>
                <a:latin typeface="Arial Black" pitchFamily="34" charset="0"/>
              </a:rPr>
              <a:t>to‘rtburchakning</a:t>
            </a:r>
            <a:r>
              <a:rPr lang="en-US" sz="36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600" dirty="0" err="1" smtClean="0">
                <a:solidFill>
                  <a:schemeClr val="bg1"/>
                </a:solidFill>
                <a:latin typeface="Arial Black" pitchFamily="34" charset="0"/>
              </a:rPr>
              <a:t>bo‘yalgan</a:t>
            </a:r>
            <a:r>
              <a:rPr lang="en-US" sz="36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600" dirty="0" err="1" smtClean="0">
                <a:solidFill>
                  <a:schemeClr val="bg1"/>
                </a:solidFill>
                <a:latin typeface="Arial Black" pitchFamily="34" charset="0"/>
              </a:rPr>
              <a:t>qismi</a:t>
            </a:r>
            <a:r>
              <a:rPr lang="en-US" sz="36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600" dirty="0" err="1" smtClean="0">
                <a:solidFill>
                  <a:schemeClr val="bg1"/>
                </a:solidFill>
                <a:latin typeface="Arial Black" pitchFamily="34" charset="0"/>
              </a:rPr>
              <a:t>yuzini</a:t>
            </a:r>
            <a:r>
              <a:rPr lang="en-US" sz="3600" dirty="0" smtClean="0">
                <a:solidFill>
                  <a:schemeClr val="bg1"/>
                </a:solidFill>
                <a:latin typeface="Arial Black" pitchFamily="34" charset="0"/>
              </a:rPr>
              <a:t> toping</a:t>
            </a:r>
            <a:endParaRPr lang="en-US" sz="36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ABCD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to‘g‘ri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to‘rtburchakning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= 12 × 8 = 96 (cm</a:t>
            </a:r>
            <a:r>
              <a:rPr lang="en-US" i="1" baseline="30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ru-RU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DEC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uchburchakning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= 1 2 × 12 × 8 = 48 (cm</a:t>
            </a:r>
            <a:r>
              <a:rPr lang="en-US" i="1" baseline="30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ru-RU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Bo‘yalgan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qismning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= 96 – 48 =48 (cm</a:t>
            </a:r>
            <a:r>
              <a:rPr lang="en-US" i="1" baseline="30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ru-RU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772816"/>
            <a:ext cx="3938219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2407397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Arial Black" pitchFamily="34" charset="0"/>
              </a:rPr>
              <a:t>JKLM </a:t>
            </a:r>
            <a:r>
              <a:rPr lang="en-US" sz="3200" dirty="0" err="1" smtClean="0">
                <a:solidFill>
                  <a:schemeClr val="bg1"/>
                </a:solidFill>
                <a:latin typeface="Arial Black" pitchFamily="34" charset="0"/>
              </a:rPr>
              <a:t>to‘g‘ri</a:t>
            </a:r>
            <a:r>
              <a:rPr lang="en-US" sz="32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Arial Black" pitchFamily="34" charset="0"/>
              </a:rPr>
              <a:t>to‘rtburchak</a:t>
            </a:r>
            <a:r>
              <a:rPr lang="en-US" sz="32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Arial Black" pitchFamily="34" charset="0"/>
              </a:rPr>
              <a:t>berilgan</a:t>
            </a:r>
            <a:r>
              <a:rPr lang="en-US" sz="3200" dirty="0" smtClean="0">
                <a:solidFill>
                  <a:schemeClr val="bg1"/>
                </a:solidFill>
                <a:latin typeface="Arial Black" pitchFamily="34" charset="0"/>
              </a:rPr>
              <a:t>. </a:t>
            </a:r>
            <a:r>
              <a:rPr lang="en-US" sz="3200" dirty="0" err="1" smtClean="0">
                <a:solidFill>
                  <a:schemeClr val="bg1"/>
                </a:solidFill>
                <a:latin typeface="Arial Black" pitchFamily="34" charset="0"/>
              </a:rPr>
              <a:t>Bo‘yalgan</a:t>
            </a:r>
            <a:r>
              <a:rPr lang="en-US" sz="32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Arial Black" pitchFamily="34" charset="0"/>
              </a:rPr>
              <a:t>uchburchak</a:t>
            </a:r>
            <a:r>
              <a:rPr lang="en-US" sz="32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Arial Black" pitchFamily="34" charset="0"/>
              </a:rPr>
              <a:t>yuzini</a:t>
            </a:r>
            <a:r>
              <a:rPr lang="en-US" sz="3200" dirty="0" smtClean="0">
                <a:solidFill>
                  <a:schemeClr val="bg1"/>
                </a:solidFill>
                <a:latin typeface="Arial Black" pitchFamily="34" charset="0"/>
              </a:rPr>
              <a:t> toping.</a:t>
            </a:r>
            <a:endParaRPr lang="en-US" sz="32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139952" y="1524000"/>
            <a:ext cx="4568184" cy="4572000"/>
          </a:xfrm>
        </p:spPr>
        <p:txBody>
          <a:bodyPr/>
          <a:lstStyle/>
          <a:p>
            <a:pPr>
              <a:buNone/>
            </a:pP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MN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kesma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KMN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uchburchakning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asosidir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MN = 16 – 7 = 9 (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cm</a:t>
            </a:r>
            <a:r>
              <a:rPr lang="en-US" i="1" baseline="30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ru-RU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Bo‘yalgan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= 1 2 × 9 × 18 = 81 (cm</a:t>
            </a:r>
            <a:r>
              <a:rPr lang="en-US" i="1" baseline="30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ru-RU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700808"/>
            <a:ext cx="3384376" cy="3557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2285057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404392"/>
          </a:xfrm>
        </p:spPr>
        <p:txBody>
          <a:bodyPr>
            <a:noAutofit/>
          </a:bodyPr>
          <a:lstStyle/>
          <a:p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Quyidagi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rasmda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keltirilgan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shakl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nimalardan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tashkil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topganini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aniqlang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va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uning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yuzini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toping.</a:t>
            </a:r>
            <a:endParaRPr lang="en-US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556792"/>
            <a:ext cx="4608512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3573016"/>
            <a:ext cx="4032448" cy="2748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795196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Men A, B, C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va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D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shakllarning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yuzini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qo‘shib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umumiy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shaklning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yuzini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topa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olaman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.</a:t>
            </a:r>
            <a:endParaRPr lang="en-US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524000"/>
                <a:ext cx="4546848" cy="4572000"/>
              </a:xfrm>
            </p:spPr>
            <p:txBody>
              <a:bodyPr>
                <a:normAutofit/>
              </a:bodyPr>
              <a:lstStyle/>
              <a:p>
                <a:r>
                  <a:rPr lang="en-US" sz="2800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A </a:t>
                </a:r>
                <a:r>
                  <a:rPr lang="en-US" sz="2800" i="1" dirty="0" err="1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uchburchakning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i="1" dirty="0" err="1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yuzi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80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× 5 × 3 = 7,5 (cm</a:t>
                </a:r>
                <a:r>
                  <a:rPr lang="en-US" sz="2800" i="1" baseline="30000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) </a:t>
                </a:r>
                <a:endParaRPr lang="ru-RU" sz="2800" i="1" dirty="0" smtClean="0">
                  <a:solidFill>
                    <a:srgbClr val="7030A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sz="2800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B </a:t>
                </a:r>
                <a:r>
                  <a:rPr lang="en-US" sz="2800" i="1" dirty="0" err="1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to‘g‘ri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i="1" dirty="0" err="1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to‘rtburchakning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i="1" dirty="0" err="1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yuzi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= 15 × 5 = 75 (cm</a:t>
                </a:r>
                <a:r>
                  <a:rPr lang="en-US" sz="2800" i="1" baseline="30000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)</a:t>
                </a:r>
                <a:endParaRPr lang="ru-RU" sz="2800" i="1" dirty="0" smtClean="0">
                  <a:solidFill>
                    <a:srgbClr val="7030A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sz="2800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C </a:t>
                </a:r>
                <a:r>
                  <a:rPr lang="en-US" sz="2800" i="1" dirty="0" err="1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to‘g‘ri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i="1" dirty="0" err="1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to‘rtburchakning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i="1" dirty="0" err="1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yuzi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= 5 × 3 = 15 (cm</a:t>
                </a:r>
                <a:r>
                  <a:rPr lang="en-US" sz="2800" i="1" baseline="30000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)</a:t>
                </a:r>
                <a:endParaRPr lang="ru-RU" sz="2800" i="1" dirty="0" smtClean="0">
                  <a:solidFill>
                    <a:srgbClr val="7030A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sz="2800" i="1" dirty="0" err="1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Shaklning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i="1" dirty="0" err="1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yuzi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= 7,5 + 75 + 15 = 97,5 (cm</a:t>
                </a:r>
                <a:r>
                  <a:rPr lang="en-US" sz="2800" i="1" baseline="30000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800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)</a:t>
                </a:r>
                <a:endParaRPr lang="ru-RU" sz="2800" i="1" dirty="0" smtClean="0">
                  <a:solidFill>
                    <a:srgbClr val="7030A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524000"/>
                <a:ext cx="4546848" cy="4572000"/>
              </a:xfrm>
              <a:blipFill rotWithShape="1">
                <a:blip r:embed="rId2"/>
                <a:stretch>
                  <a:fillRect l="-1475" t="-1333" r="-36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4088" y="1916832"/>
            <a:ext cx="3174677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988126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404392"/>
          </a:xfrm>
        </p:spPr>
        <p:txBody>
          <a:bodyPr>
            <a:noAutofit/>
          </a:bodyPr>
          <a:lstStyle/>
          <a:p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Uchburchak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to‘g‘ri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to‘rtburchak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va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kvadratdan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tashkil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topgan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shaklning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rial Black" pitchFamily="34" charset="0"/>
              </a:rPr>
              <a:t>yuzini</a:t>
            </a:r>
            <a:r>
              <a:rPr lang="en-US" sz="2800" dirty="0" smtClean="0">
                <a:solidFill>
                  <a:schemeClr val="bg1"/>
                </a:solidFill>
                <a:latin typeface="Arial Black" pitchFamily="34" charset="0"/>
              </a:rPr>
              <a:t> toping.</a:t>
            </a:r>
            <a:endParaRPr lang="en-US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uchburchakning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= 1 2 × 5 × 4 = 10 (m</a:t>
            </a:r>
            <a:r>
              <a:rPr lang="en-US" i="1" baseline="30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endParaRPr lang="ru-RU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to‘g‘ri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to‘rtburchakning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= 6 × 5 = 30 (m</a:t>
            </a:r>
            <a:r>
              <a:rPr lang="en-US" i="1" baseline="30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endParaRPr lang="ru-RU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kvadratning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= 6 × 6 = 36 (m</a:t>
            </a:r>
            <a:r>
              <a:rPr lang="en-US" i="1" baseline="30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endParaRPr lang="ru-RU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Shaklning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= 10 + 30 + 36 = 76 (m</a:t>
            </a:r>
            <a:r>
              <a:rPr lang="en-US" i="1" baseline="30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ru-RU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772816"/>
            <a:ext cx="3609369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3123567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00336"/>
          </a:xfrm>
        </p:spPr>
        <p:txBody>
          <a:bodyPr>
            <a:noAutofit/>
          </a:bodyPr>
          <a:lstStyle/>
          <a:p>
            <a:pPr algn="ctr"/>
            <a:r>
              <a:rPr lang="en-US" sz="4000" dirty="0" err="1" smtClean="0">
                <a:solidFill>
                  <a:schemeClr val="bg1"/>
                </a:solidFill>
                <a:latin typeface="Arial Black" pitchFamily="34" charset="0"/>
              </a:rPr>
              <a:t>Juftlikda</a:t>
            </a:r>
            <a:r>
              <a:rPr lang="en-US" sz="40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4000" dirty="0" err="1" smtClean="0">
                <a:solidFill>
                  <a:schemeClr val="bg1"/>
                </a:solidFill>
                <a:latin typeface="Arial Black" pitchFamily="34" charset="0"/>
              </a:rPr>
              <a:t>ishlang</a:t>
            </a:r>
            <a:endParaRPr lang="en-US" sz="40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95536" y="1484784"/>
            <a:ext cx="4059936" cy="4572000"/>
          </a:xfrm>
        </p:spPr>
        <p:txBody>
          <a:bodyPr>
            <a:normAutofit/>
          </a:bodyPr>
          <a:lstStyle/>
          <a:p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rasmda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keltirilgan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shakllar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nimalardan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tashkil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topganini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aniqlang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ularning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yuzini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toping.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Javobingizni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sinfdoshlaringiz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bilan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o‘rtoqlashing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064" y="1772816"/>
            <a:ext cx="3674456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6360359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 err="1" smtClean="0">
                <a:solidFill>
                  <a:schemeClr val="bg1"/>
                </a:solidFill>
                <a:latin typeface="Arial Black" pitchFamily="34" charset="0"/>
              </a:rPr>
              <a:t>Juftlikda</a:t>
            </a:r>
            <a:r>
              <a:rPr lang="en-US" sz="44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Arial Black" pitchFamily="34" charset="0"/>
              </a:rPr>
              <a:t>ishlang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556791"/>
            <a:ext cx="7632848" cy="4730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9318372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 err="1" smtClean="0">
                <a:solidFill>
                  <a:schemeClr val="bg1"/>
                </a:solidFill>
                <a:latin typeface="Arial Black" pitchFamily="34" charset="0"/>
              </a:rPr>
              <a:t>Juftlikda</a:t>
            </a:r>
            <a:r>
              <a:rPr lang="en-US" sz="44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Arial Black" pitchFamily="34" charset="0"/>
              </a:rPr>
              <a:t>ishlang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772816"/>
            <a:ext cx="7704856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4286973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8000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Mashq</a:t>
            </a:r>
            <a:r>
              <a:rPr lang="en-US" sz="8000" dirty="0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daftari</a:t>
            </a:r>
            <a:r>
              <a:rPr lang="en-US" sz="8000" dirty="0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123-128-betlar</a:t>
            </a:r>
            <a:endParaRPr lang="en-US" sz="8000" dirty="0">
              <a:solidFill>
                <a:srgbClr val="00B050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7030A0"/>
                </a:solidFill>
                <a:latin typeface="Algerian" pitchFamily="82" charset="0"/>
              </a:rPr>
              <a:t>Uyga</a:t>
            </a: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lgerian" pitchFamily="82" charset="0"/>
              </a:rPr>
              <a:t>vazifa</a:t>
            </a: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:</a:t>
            </a:r>
            <a:endParaRPr lang="en-US" b="1" dirty="0">
              <a:solidFill>
                <a:srgbClr val="7030A0"/>
              </a:solidFill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035546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464</Words>
  <Application>Microsoft Office PowerPoint</Application>
  <PresentationFormat>Экран (4:3)</PresentationFormat>
  <Paragraphs>46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Бумажная</vt:lpstr>
      <vt:lpstr>Fan: Matematika Sing: 5</vt:lpstr>
      <vt:lpstr>PQRS – to‘g‘ri to‘rtburchak, PTUS esa kvadrat. Bo‘yalgan shaklning yuzini toping. </vt:lpstr>
      <vt:lpstr>PQRS – to‘g‘ri to‘rtburchak, PTUS esa kvadrat. Bo‘yalgan shaklning yuzini toping. </vt:lpstr>
      <vt:lpstr>ABCD to‘g‘ri to‘rtburchakning bo‘yalgan qismi yuzini toping</vt:lpstr>
      <vt:lpstr>JKLM to‘g‘ri to‘rtburchak berilgan. Bo‘yalgan uchburchak yuzini toping.</vt:lpstr>
      <vt:lpstr>Quyidagi rasmda keltirilgan shakl nimalardan tashkil topganini aniqlang va uning yuzini toping.</vt:lpstr>
      <vt:lpstr>Men A, B, C va D shakllarning yuzini qo‘shib, umumiy shaklning yuzini topa olaman.</vt:lpstr>
      <vt:lpstr>Uchburchak, to‘g‘ri to‘rtburchak va kvadratdan tashkil topgan shaklning yuzini toping.</vt:lpstr>
      <vt:lpstr>Juftlikda ishlang</vt:lpstr>
      <vt:lpstr>Juftlikda ishlang</vt:lpstr>
      <vt:lpstr>Juftlikda ishlang</vt:lpstr>
      <vt:lpstr>Uyga vazifa: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 Windows</cp:lastModifiedBy>
  <cp:revision>16</cp:revision>
  <dcterms:created xsi:type="dcterms:W3CDTF">2026-02-07T05:27:24Z</dcterms:created>
  <dcterms:modified xsi:type="dcterms:W3CDTF">2026-03-01T09:35:33Z</dcterms:modified>
</cp:coreProperties>
</file>